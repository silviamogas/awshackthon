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.svg" ContentType="image/svg+xml"/>
  <Override PartName="/ppt/media/image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e0c57f6ba5549ee" Type="http://schemas.openxmlformats.org/officeDocument/2006/relationships/extended-properties" Target="docProps/app.xml"/><Relationship Id="R4b9a14a62bdf44e5" Type="http://schemas.openxmlformats.org/package/2006/relationships/metadata/core-properties" Target="docProps/core.xml"/><Relationship Id="Rac74aca821e649bb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77533a00c4386"/>
  </p:sldMasterIdLst>
  <p:notesMasterIdLst>
    <p:notesMasterId xmlns:r="http://schemas.openxmlformats.org/officeDocument/2006/relationships" r:id="R6ddf3dcacaac4264"/>
  </p:notesMasterIdLst>
  <p:sldIdLst>
    <p:sldId xmlns:r="http://schemas.openxmlformats.org/officeDocument/2006/relationships" id="256" r:id="Rba5f41fce45e4cba"/>
    <p:sldId xmlns:r="http://schemas.openxmlformats.org/officeDocument/2006/relationships" id="257" r:id="R7e7cfc2fefca4bbc"/>
    <p:sldId xmlns:r="http://schemas.openxmlformats.org/officeDocument/2006/relationships" id="258" r:id="R18b3c6eb24e443de"/>
    <p:sldId xmlns:r="http://schemas.openxmlformats.org/officeDocument/2006/relationships" id="259" r:id="Rcc50b73c4cbb4c29"/>
    <p:sldId xmlns:r="http://schemas.openxmlformats.org/officeDocument/2006/relationships" id="260" r:id="Re0ac568e2a464c23"/>
    <p:sldId xmlns:r="http://schemas.openxmlformats.org/officeDocument/2006/relationships" id="261" r:id="R3dcd2499f74942e9"/>
    <p:sldId xmlns:r="http://schemas.openxmlformats.org/officeDocument/2006/relationships" id="262" r:id="Rc220b35c2a2a455e"/>
    <p:sldId xmlns:r="http://schemas.openxmlformats.org/officeDocument/2006/relationships" id="263" r:id="R627cacfa72b4468e"/>
    <p:sldId xmlns:r="http://schemas.openxmlformats.org/officeDocument/2006/relationships" id="264" r:id="R07d3c53163204782"/>
    <p:sldId xmlns:r="http://schemas.openxmlformats.org/officeDocument/2006/relationships" id="265" r:id="R9f5ef2887cf0467f"/>
    <p:sldId xmlns:r="http://schemas.openxmlformats.org/officeDocument/2006/relationships" id="266" r:id="Rbb966d8f5e0044d6"/>
    <p:sldId xmlns:r="http://schemas.openxmlformats.org/officeDocument/2006/relationships" id="267" r:id="R983e41fa803d4c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7d3c53163204782" Type="http://schemas.openxmlformats.org/officeDocument/2006/relationships/slide" Target="slides/slide9.xml"/><Relationship Id="R18b3c6eb24e443de" Type="http://schemas.openxmlformats.org/officeDocument/2006/relationships/slide" Target="slides/slide3.xml"/><Relationship Id="R3dcd2499f74942e9" Type="http://schemas.openxmlformats.org/officeDocument/2006/relationships/slide" Target="slides/slide6.xml"/><Relationship Id="R5605df65588f4733" Type="http://schemas.openxmlformats.org/officeDocument/2006/relationships/tableStyles" Target="tableStyles.xml"/><Relationship Id="R627cacfa72b4468e" Type="http://schemas.openxmlformats.org/officeDocument/2006/relationships/slide" Target="slides/slide8.xml"/><Relationship Id="R6ddf3dcacaac4264" Type="http://schemas.openxmlformats.org/officeDocument/2006/relationships/notesMaster" Target="notesMasters/notesMaster1.xml"/><Relationship Id="R7e7cfc2fefca4bbc" Type="http://schemas.openxmlformats.org/officeDocument/2006/relationships/slide" Target="slides/slide2.xml"/><Relationship Id="R7f01d69bff014c76" Type="http://schemas.openxmlformats.org/officeDocument/2006/relationships/presProps" Target="presProps.xml"/><Relationship Id="R8ed5faa0d7fa4cf0" Type="http://schemas.openxmlformats.org/officeDocument/2006/relationships/theme" Target="theme/theme1.xml"/><Relationship Id="R983e41fa803d4c1e" Type="http://schemas.openxmlformats.org/officeDocument/2006/relationships/slide" Target="slides/slide12.xml"/><Relationship Id="R9f5ef2887cf0467f" Type="http://schemas.openxmlformats.org/officeDocument/2006/relationships/slide" Target="slides/slide10.xml"/><Relationship Id="Rb0377533a00c4386" Type="http://schemas.openxmlformats.org/officeDocument/2006/relationships/slideMaster" Target="slideMasters/slideMaster1.xml"/><Relationship Id="Rba5f41fce45e4cba" Type="http://schemas.openxmlformats.org/officeDocument/2006/relationships/slide" Target="slides/slide1.xml"/><Relationship Id="Rbb966d8f5e0044d6" Type="http://schemas.openxmlformats.org/officeDocument/2006/relationships/slide" Target="slides/slide11.xml"/><Relationship Id="Rc220b35c2a2a455e" Type="http://schemas.openxmlformats.org/officeDocument/2006/relationships/slide" Target="slides/slide7.xml"/><Relationship Id="Rcc50b73c4cbb4c29" Type="http://schemas.openxmlformats.org/officeDocument/2006/relationships/slide" Target="slides/slide4.xml"/><Relationship Id="Re0ac568e2a464c2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531a44eaa7f2454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cc272b696bd4b17" Type="http://schemas.openxmlformats.org/officeDocument/2006/relationships/slide" Target="../slides/slide1.xml"/><Relationship Id="Ra0cbb7787a294d14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c131050d8bd4a1f" Type="http://schemas.openxmlformats.org/officeDocument/2006/relationships/notesMaster" Target="../notesMasters/notesMaster1.xml"/><Relationship Id="Rf8cb30ea74ed406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e320fa08cfb43da" Type="http://schemas.openxmlformats.org/officeDocument/2006/relationships/notesMaster" Target="../notesMasters/notesMaster1.xml"/><Relationship Id="Rb4c29f0128fa42e0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3caa3b49cc64c0b" Type="http://schemas.openxmlformats.org/officeDocument/2006/relationships/slide" Target="../slides/slide4.xml"/><Relationship Id="R843db5c4088b4840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d44c565f3e3a4f11" Type="http://schemas.openxmlformats.org/officeDocument/2006/relationships/slide" Target="../slides/slide5.xml"/><Relationship Id="Ree87006f526f4f1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14e0555f7305484d" Type="http://schemas.openxmlformats.org/officeDocument/2006/relationships/notesMaster" Target="../notesMasters/notesMaster1.xml"/><Relationship Id="R670bad898c6048a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0554dad19a3149d2" Type="http://schemas.openxmlformats.org/officeDocument/2006/relationships/slide" Target="../slides/slide7.xml"/><Relationship Id="R49389bec74014f4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98a4a2dab834bee" Type="http://schemas.openxmlformats.org/officeDocument/2006/relationships/notesMaster" Target="../notesMasters/notesMaster1.xml"/><Relationship Id="R97256be67f4445cb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861cb4eb52b540ac" Type="http://schemas.openxmlformats.org/officeDocument/2006/relationships/slide" Target="../slides/slide9.xml"/><Relationship Id="Rf7c435a07af64de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b24b52d7b9a74005" Type="http://schemas.openxmlformats.org/officeDocument/2006/relationships/notesMaster" Target="../notesMasters/notesMaster1.xml"/><Relationship Id="Rde52d9b03cc744d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5ab7e23b6e540a5" Type="http://schemas.openxmlformats.org/officeDocument/2006/relationships/notesMaster" Target="../notesMasters/notesMaster1.xml"/><Relationship Id="Ref19d34e1d934bde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10f83bea0bd4eee" Type="http://schemas.openxmlformats.org/officeDocument/2006/relationships/slide" Target="../slides/slide12.xml"/><Relationship Id="R904c2e23c1ce4f7e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repository; AWS services shown as target deployment architecture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Commercial structure is an illustrative proposal for validation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Pilot timing is illustrative and subject to integration and clinical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product repository and project 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3360eab27d14ca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a10c5432b904d01" Type="http://schemas.openxmlformats.org/officeDocument/2006/relationships/theme" Target="theme/theme2.xml"/><Relationship Id="Rfc0da03ca45d4ef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0da03ca45d4e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954001827f745ab" Type="http://schemas.openxmlformats.org/officeDocument/2006/relationships/slideLayout" Target="../slideLayouts/slideLayout1.xml"/><Relationship Id="R273907194ab4477e" Type="http://schemas.openxmlformats.org/officeDocument/2006/relationships/image" Target="../media/image.png"/><Relationship Id="R4059cbef2bf94ec7" Type="http://schemas.openxmlformats.org/officeDocument/2006/relationships/image" Target="../media/image.svg"/><Relationship Id="R96fde69456214e7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9bd73f5390994184" Type="http://schemas.openxmlformats.org/officeDocument/2006/relationships/notesSlide" Target="../notesSlides/notesSlide2.xml"/><Relationship Id="Rd80ba2ffa5b04c42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0894d87ee2054ff7" Type="http://schemas.openxmlformats.org/officeDocument/2006/relationships/slideLayout" Target="../slideLayouts/slideLayout1.xml"/><Relationship Id="R282b909023944d46" Type="http://schemas.openxmlformats.org/officeDocument/2006/relationships/notesSlide" Target="../notesSlides/notesSlide3.xml"/><Relationship Id="Rc417887f3ea043a2" Type="http://schemas.openxmlformats.org/officeDocument/2006/relationships/image" Target="../media/image2.png"/><Relationship Id="Rcf9d088512c44e33" Type="http://schemas.openxmlformats.org/officeDocument/2006/relationships/image" Target="../media/image2.sv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2fa80c6d50e14a2c" Type="http://schemas.openxmlformats.org/officeDocument/2006/relationships/slideLayout" Target="../slideLayouts/slideLayout1.xml"/><Relationship Id="R9acaae169e7e4501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0011db668f434495" Type="http://schemas.openxmlformats.org/officeDocument/2006/relationships/notesSlide" Target="../notesSlides/notesSlide5.xml"/><Relationship Id="Rcb37cf111002418f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3791e03286784e4f" Type="http://schemas.openxmlformats.org/officeDocument/2006/relationships/slideLayout" Target="../slideLayouts/slideLayout1.xml"/><Relationship Id="Rfc592bfa86b941b9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a1244d5c0e9e459e" Type="http://schemas.openxmlformats.org/officeDocument/2006/relationships/slideLayout" Target="../slideLayouts/slideLayout1.xml"/><Relationship Id="Rf6410036a9d84feb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3c84bcec7a1b41e3" Type="http://schemas.openxmlformats.org/officeDocument/2006/relationships/notesSlide" Target="../notesSlides/notesSlide8.xml"/><Relationship Id="R5e4747d19f3f40ac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3419c1904e644bea" Type="http://schemas.openxmlformats.org/officeDocument/2006/relationships/slideLayout" Target="../slideLayouts/slideLayout1.xml"/><Relationship Id="R3e5d969959b84fe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4689a4ad6b514b37" Type="http://schemas.openxmlformats.org/officeDocument/2006/relationships/slideLayout" Target="../slideLayouts/slideLayout1.xml"/><Relationship Id="R68ce7a2c2d8f42f9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44df72d28007432f" Type="http://schemas.openxmlformats.org/officeDocument/2006/relationships/notesSlide" Target="../notesSlides/notesSlide11.xml"/><Relationship Id="R7be93180f4c343e6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0657218bd9154d25" Type="http://schemas.openxmlformats.org/officeDocument/2006/relationships/image" Target="../media/image3.svg"/><Relationship Id="R1e5c6023d883417a" Type="http://schemas.openxmlformats.org/officeDocument/2006/relationships/notesSlide" Target="../notesSlides/notesSlide12.xml"/><Relationship Id="R6be844db5f0c4cdb" Type="http://schemas.openxmlformats.org/officeDocument/2006/relationships/image" Target="../media/image3.png"/><Relationship Id="Reb69407f26924b8d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48B03-3728-4F98-9C78-3378BDBA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D316C-6A40-4CF7-9CC4-1A9EDA23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1C556-BCED-4160-89C7-9AA4A14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62500"/>
            <a:ext cx="24765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85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907194ab4477e">
            <a:extLst>
              <a:ext uri="{96DAC541-7B7A-43D3-8B79-37D633B846F1}">
                <asvg:svgBlip xmlns:asvg="http://schemas.microsoft.com/office/drawing/2016/SVG/main" r:embed="R4059cbef2bf94ec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495300"/>
            <a:ext cx="3143250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53775-9569-4D1C-AD29-2B99DB30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7429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CLEAR ACTION WHEN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EVERY MINUTE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C6DC0-8533-4850-A218-9144E7CC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D0DD"/>
                </a:solidFill>
              </a:defRPr>
            </a:pPr>
            <a:r>
              <a:rPr sz="1800" b="0">
                <a:solidFill>
                  <a:srgbClr val="B7D0DD"/>
                </a:solidFill>
              </a:rPr>
              <a:t>An action-oriented AI health triage agent for urgent decisions, safe escalation and coordinated care.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02042-9E38-4BEF-A2FE-D0BB4B4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8956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03DC0-46EC-48B9-8512-2CD7D06F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2E"/>
                </a:solidFill>
              </a:defRPr>
            </a:pPr>
            <a:r>
              <a:rPr sz="1200" b="1">
                <a:solidFill>
                  <a:srgbClr val="071B2E"/>
                </a:solidFill>
              </a:rPr>
              <a:t>AWS HACKATHON •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79001-8C85-4104-AA86-3F2F9FE3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61912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FA1B4"/>
                </a:solidFill>
              </a:defRPr>
            </a:pPr>
            <a:r>
              <a:rPr sz="975" b="0">
                <a:solidFill>
                  <a:srgbClr val="7FA1B4"/>
                </a:solidFill>
              </a:rPr>
              <a:t>Pitch deck • 2026</a:t>
            </a:r>
          </a:p>
        </p:txBody>
      </p:sp>
    </p:spTree>
    <p:extLst>
      <p:ext uri="{BB962C8B-B14F-4D97-AF65-F5344CB8AC3E}">
        <p14:creationId xmlns:p14="http://schemas.microsoft.com/office/powerpoint/2010/main" val="9698436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5ADDF-88AB-4A47-ACF6-E91825C1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DFAD9-4414-4B39-846E-548A66F5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BD98-B76D-4950-A122-AC440642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Urgent symptoms create an action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089CF-754A-47C6-B3FE-42B90302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People do not need another search result. They need to know what to do next, how quickly, and who should be involved.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7BAD6-4633-40FD-9ECA-B982A7AC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238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57452-BD92-48AE-A31C-AFB34676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238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B40BC-1D64-47BD-B7A5-B56A7E9B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5B5D"/>
                </a:solidFill>
              </a:defRPr>
            </a:pPr>
            <a:r>
              <a:rPr sz="1200" b="1">
                <a:solidFill>
                  <a:srgbClr val="F15B5D"/>
                </a:solidFill>
              </a:rPr>
              <a:t>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3F5CF-10B1-42C5-A266-798B131D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647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2E"/>
                </a:solidFill>
              </a:defRPr>
            </a:pPr>
            <a:r>
              <a:rPr sz="1875" b="1">
                <a:solidFill>
                  <a:srgbClr val="071B2E"/>
                </a:solidFill>
              </a:rPr>
              <a:t>Symptoms are hard to interpret under stress.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6DA1B-D4AC-491D-A52C-9D14AC63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33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B8B"/>
                </a:solidFill>
              </a:defRPr>
            </a:pPr>
            <a:r>
              <a:rPr sz="1350" b="1">
                <a:solidFill>
                  <a:srgbClr val="667B8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5B3CA-EE1C-4611-BA6A-9C0EAF9E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238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51388-9CDF-4AC3-9872-AABA481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238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54FF4-C938-4093-ADD2-821A46BB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00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</a:defRPr>
            </a:pPr>
            <a:r>
              <a:rPr sz="1200" b="1">
                <a:solidFill>
                  <a:srgbClr val="FFB547"/>
                </a:solidFill>
              </a:rPr>
              <a:t>DELAY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FC231C-5E7B-41F6-A702-A4BB7A63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2647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2E"/>
                </a:solidFill>
              </a:defRPr>
            </a:pPr>
            <a:r>
              <a:rPr sz="1875" b="1">
                <a:solidFill>
                  <a:srgbClr val="071B2E"/>
                </a:solidFill>
              </a:rPr>
              <a:t>The right level of care is often unclear.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5304D-727C-4990-9203-8A7E1BD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B8B"/>
                </a:solidFill>
              </a:defRPr>
            </a:pPr>
            <a:r>
              <a:rPr sz="1350" b="1">
                <a:solidFill>
                  <a:srgbClr val="667B8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E2C5A-D14C-4A1B-874B-039ACF6F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323850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765E2-A73A-4AF2-9E16-EAA8DB74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32385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B0857E-7407-4F58-A7AA-660C647D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003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0C8"/>
                </a:solidFill>
              </a:defRPr>
            </a:pPr>
            <a:r>
              <a:rPr sz="1200" b="1">
                <a:solidFill>
                  <a:srgbClr val="25D0C8"/>
                </a:solidFill>
              </a:rPr>
              <a:t>FRAGMENTATION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039E8-3683-4851-97D5-770F6BF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26479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B2E"/>
                </a:solidFill>
              </a:defRPr>
            </a:pPr>
            <a:r>
              <a:rPr sz="1875" b="1">
                <a:solidFill>
                  <a:srgbClr val="071B2E"/>
                </a:solidFill>
              </a:rPr>
              <a:t>Patients, providers and emergency teams lack a shared summary.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208E5-2F22-4FE8-9E08-AAE12D8E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33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7B8B"/>
                </a:solidFill>
              </a:defRPr>
            </a:pPr>
            <a:r>
              <a:rPr sz="1350" b="1">
                <a:solidFill>
                  <a:srgbClr val="667B8B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73D17-D312-4B7A-B5B8-F92DC009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B2E"/>
                </a:solidFill>
              </a:defRPr>
            </a:pPr>
            <a:r>
              <a:rPr sz="1950" b="1">
                <a:solidFill>
                  <a:srgbClr val="071B2E"/>
                </a:solidFill>
              </a:rPr>
              <a:t>The result: avoidable anxiety, unnecessary demand and dangerous delay.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9945D-FA88-425D-A109-50367890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398FC-DC2A-4863-A349-F7158DFD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344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774FB-24F5-4DFB-9608-12EC13C7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0C8"/>
                </a:solidFill>
              </a:defRPr>
            </a:pPr>
            <a:r>
              <a:rPr sz="975" b="1">
                <a:solidFill>
                  <a:srgbClr val="25D0C8"/>
                </a:solidFill>
              </a:rPr>
              <a:t>THE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80FC5-4A0C-4FE8-AA14-8B0A0AD8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9AABD"/>
                </a:solidFill>
              </a:defRPr>
            </a:pPr>
            <a:r>
              <a:rPr sz="975" b="1">
                <a:solidFill>
                  <a:srgbClr val="89AAB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58281-850D-472E-8989-935D3C16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One conversation. Three clear paths.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452A1-0291-44CD-85C4-8AF468B6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D0DD"/>
                </a:solidFill>
              </a:defRPr>
            </a:pPr>
            <a:r>
              <a:rPr sz="1500" b="0">
                <a:solidFill>
                  <a:srgbClr val="B7D0DD"/>
                </a:solidFill>
              </a:rPr>
              <a:t>The agent gathers structured symptoms, screens for red flags and converts uncertainty into a safe next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A094E-36C9-406B-AEF5-E1B753F7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981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9525">
            <a:solidFill>
              <a:srgbClr val="2545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E2480-B350-42C2-B137-3FB5A8C2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14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F769B-7078-4720-B481-9EEAD9EE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16555-BD30-4836-BA4D-9FE23493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4D840-84EC-4038-AD57-6F452EE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5B5D"/>
                </a:solidFill>
              </a:defRPr>
            </a:pPr>
            <a:r>
              <a:rPr sz="1425" b="1">
                <a:solidFill>
                  <a:srgbClr val="F15B5D"/>
                </a:solidFill>
              </a:rPr>
              <a:t>ACT NOW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49259-2AEB-414C-A38F-8AC1734D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4E8"/>
                </a:solidFill>
              </a:defRPr>
            </a:pPr>
            <a:r>
              <a:rPr sz="1350" b="0">
                <a:solidFill>
                  <a:srgbClr val="D7E4E8"/>
                </a:solidFill>
              </a:rPr>
              <a:t>Emergency guidance and immediate escalation.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01FDF-91D9-4CC5-902D-B7ACE65C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981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9525">
            <a:solidFill>
              <a:srgbClr val="2545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063D9-3EF7-442B-88DF-833E4B80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114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2B329-8DB4-4432-8FF6-37F019F8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16C55-C97F-46FE-9FE8-EF2754D8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9C61E-DD68-43AE-B29E-B94E729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547"/>
                </a:solidFill>
              </a:defRPr>
            </a:pPr>
            <a:r>
              <a:rPr sz="1425" b="1">
                <a:solidFill>
                  <a:srgbClr val="FFB547"/>
                </a:solidFill>
              </a:rPr>
              <a:t>WITHIN 24 HOURS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D8B6DD-DEA0-4871-81A1-B3C2F68F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957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4E8"/>
                </a:solidFill>
              </a:defRPr>
            </a:pPr>
            <a:r>
              <a:rPr sz="1350" b="0">
                <a:solidFill>
                  <a:srgbClr val="D7E4E8"/>
                </a:solidFill>
              </a:rPr>
              <a:t>Prompt clinical review with a structured summary.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E20A1-BC8E-44AF-9E22-4866671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9810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9525">
            <a:solidFill>
              <a:srgbClr val="2545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B417F0-C7DF-4672-AA87-8F8C535E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14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8D6E4-4DE1-4EE5-A2BE-FDBB7051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AD5746-AF00-47B3-95E9-EB20CCA1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19B0DD-D1FB-45B5-BF03-A30B8279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33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D0C8"/>
                </a:solidFill>
              </a:defRPr>
            </a:pPr>
            <a:r>
              <a:rPr sz="1425" b="1">
                <a:solidFill>
                  <a:srgbClr val="25D0C8"/>
                </a:solidFill>
              </a:rPr>
              <a:t>SELF-CARE + MONITOR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ADFFC-E8AC-46BF-8C0D-282F91C2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38750"/>
            <a:ext cx="771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4E8"/>
                </a:solidFill>
              </a:defRPr>
            </a:pPr>
            <a:r>
              <a:rPr sz="1350" b="0">
                <a:solidFill>
                  <a:srgbClr val="D7E4E8"/>
                </a:solidFill>
              </a:rPr>
              <a:t>Practical advice, warning signs and follow-up.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7887f3ea043a2">
            <a:extLst>
              <a:ext uri="{96DAC541-7B7A-43D3-8B79-37D633B846F1}">
                <asvg:svgBlip xmlns:asvg="http://schemas.microsoft.com/office/drawing/2016/SVG/main" r:embed="Rcf9d088512c44e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72750" y="48577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6F7FC-4B23-4E49-9B49-3AA67D15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76F31-8D8F-4463-8034-11A0F7CC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A1B4"/>
                </a:solidFill>
              </a:defRPr>
            </a:pPr>
            <a:r>
              <a:rPr sz="750" b="1">
                <a:solidFill>
                  <a:srgbClr val="7FA1B4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49" name="Picture 48" descr="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9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A709A-4BD3-4821-967B-99A2B9AD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PATIENT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2B40D-4618-4802-AC8F-A97740B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C5942-87DD-46DF-B89C-8D24AA0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Designed for action under pressure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B544D-C13C-4112-AA19-53536D54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A short, multilingual interaction produces guidance for the patient and a reusable clinical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A6EF4-0D69-4149-A88A-8ECCBC3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57550"/>
            <a:ext cx="908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66E57-D539-4463-BC2A-9CDAF9E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775C4-14C4-46E0-82AF-E7C50DDB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8E78D-41A3-4FC4-9C33-74D4ED1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2E"/>
                </a:solidFill>
              </a:defRPr>
            </a:pPr>
            <a:r>
              <a:rPr sz="1200" b="1">
                <a:solidFill>
                  <a:srgbClr val="071B2E"/>
                </a:solidFill>
              </a:rPr>
              <a:t>DESCRIBE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3BC24-D8D4-4701-88D9-C5EBCABF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B8B"/>
                </a:solidFill>
              </a:defRPr>
            </a:pPr>
            <a:r>
              <a:rPr sz="1275" b="0">
                <a:solidFill>
                  <a:srgbClr val="667B8B"/>
                </a:solidFill>
              </a:rPr>
              <a:t>Voice or text in plain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32EFF3-A96E-4141-91D2-511EB4F5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337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658E3-1687-4A52-BF70-2D70607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E2B02-4D97-48EE-89E8-CB6158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100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2E"/>
                </a:solidFill>
              </a:defRPr>
            </a:pPr>
            <a:r>
              <a:rPr sz="1200" b="1">
                <a:solidFill>
                  <a:srgbClr val="071B2E"/>
                </a:solidFill>
              </a:rPr>
              <a:t>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F333F-6279-4614-BB89-83F1E63B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B8B"/>
                </a:solidFill>
              </a:defRPr>
            </a:pPr>
            <a:r>
              <a:rPr sz="1275" b="0">
                <a:solidFill>
                  <a:srgbClr val="667B8B"/>
                </a:solidFill>
              </a:rPr>
              <a:t>Structured questions and red flags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0DC92-84DF-4473-80F0-13365F93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337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1E36ED-7753-4E68-B35A-265EE80D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337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D819D-6451-4367-AEB2-E8A4726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8100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2E"/>
                </a:solidFill>
              </a:defRPr>
            </a:pPr>
            <a:r>
              <a:rPr sz="1200" b="1">
                <a:solidFill>
                  <a:srgbClr val="071B2E"/>
                </a:solidFill>
              </a:rPr>
              <a:t>CLASSIFY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D1180-10C9-4D05-B9A6-EB542523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910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B8B"/>
                </a:solidFill>
              </a:defRPr>
            </a:pPr>
            <a:r>
              <a:rPr sz="1275" b="0">
                <a:solidFill>
                  <a:srgbClr val="667B8B"/>
                </a:solidFill>
              </a:rPr>
              <a:t>Explainable urgency level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A1623-F4F7-4549-9DDF-0B5C3F48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CAAD8-4F31-4473-B1B9-9F12FA82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337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DF9D5-FB32-4911-916D-AC57AB5E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100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2E"/>
                </a:solidFill>
              </a:defRPr>
            </a:pPr>
            <a:r>
              <a:rPr sz="1200" b="1">
                <a:solidFill>
                  <a:srgbClr val="071B2E"/>
                </a:solidFill>
              </a:rPr>
              <a:t>ACT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334E05-5A77-4331-9913-82AD2D17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910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B8B"/>
                </a:solidFill>
              </a:defRPr>
            </a:pPr>
            <a:r>
              <a:rPr sz="1275" b="0">
                <a:solidFill>
                  <a:srgbClr val="667B8B"/>
                </a:solidFill>
              </a:rPr>
              <a:t>Guidance, consent and escalation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661401-28BD-41E7-AC2F-BAB7A1CD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33700"/>
            <a:ext cx="6477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B1D270-A282-4EFB-A574-4608A3BE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337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FE24A-C299-4345-A44A-C3FA98CF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B2E"/>
                </a:solidFill>
              </a:defRPr>
            </a:pPr>
            <a:r>
              <a:rPr sz="1200" b="1">
                <a:solidFill>
                  <a:srgbClr val="071B2E"/>
                </a:solidFill>
              </a:rPr>
              <a:t>FOLLOW 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A0317F-BE95-48D5-9B1C-2824B4E7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91000"/>
            <a:ext cx="1447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B8B"/>
                </a:solidFill>
              </a:defRPr>
            </a:pPr>
            <a:r>
              <a:rPr sz="1275" b="0">
                <a:solidFill>
                  <a:srgbClr val="667B8B"/>
                </a:solidFill>
              </a:rPr>
              <a:t>Monitor symptoms and next steps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B0284-B068-411B-B91D-DD284D56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EAF7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15021E-7580-49EF-BF42-632796C1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5307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B2E"/>
                </a:solidFill>
              </a:defRPr>
            </a:pPr>
            <a:r>
              <a:rPr sz="1500" b="1">
                <a:solidFill>
                  <a:srgbClr val="071B2E"/>
                </a:solidFill>
              </a:rPr>
              <a:t>Safety principle: the agent supports decisions. It does not diagnose or replace clinical judgement.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64642-253E-429B-B137-FBD25CD0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0042E-D638-4AEB-89BF-1CF28733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31" name="Picture 30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03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E399C8-AE9D-4FC0-8BF2-8AF96788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SAFETY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0B8A0-90C5-427A-AE03-AC68B4BD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90DB1-CC72-44AA-97F5-75DF7F0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Trust is a product requirement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FA41E8-5A06-4185-BCC2-549D740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Every recommendation must be bounded, explainable, auditable and easy to override.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BB369-D753-4427-86FF-66B443C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08635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01D59-AC22-4A80-A9E8-69DEAFA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15B5D"/>
                </a:solidFill>
              </a:defRPr>
            </a:pPr>
            <a:r>
              <a:rPr sz="1575" b="1">
                <a:solidFill>
                  <a:srgbClr val="F15B5D"/>
                </a:solidFill>
              </a:rPr>
              <a:t>CLINICAL SAFETY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B3E7A-4241-419E-9E19-96284D65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966244-D58E-4304-A53D-37EFBCA3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7182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83B"/>
                </a:solidFill>
              </a:defRPr>
            </a:pPr>
            <a:r>
              <a:rPr sz="1500" b="0">
                <a:solidFill>
                  <a:srgbClr val="10283B"/>
                </a:solidFill>
              </a:rPr>
              <a:t>Red-flag screening before advice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92335-CD02-4D0E-9641-0798BAFB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D9732-9989-4617-84F4-71C5BE9F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6861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83B"/>
                </a:solidFill>
              </a:defRPr>
            </a:pPr>
            <a:r>
              <a:rPr sz="1500" b="0">
                <a:solidFill>
                  <a:srgbClr val="10283B"/>
                </a:solidFill>
              </a:rPr>
              <a:t>Conservative escalation when information is incomplete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04079-1148-4633-9489-BFA6C3A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86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171AB-3030-4A33-80E0-6CC80067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20052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83B"/>
                </a:solidFill>
              </a:defRPr>
            </a:pPr>
            <a:r>
              <a:rPr sz="1500" b="0">
                <a:solidFill>
                  <a:srgbClr val="10283B"/>
                </a:solidFill>
              </a:rPr>
              <a:t>Explicit consent before contacting providers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511AD-BA57-41E7-BB27-22AB13E8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70AE1-4DD8-40F9-B2EF-573DE7CB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7148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83B"/>
                </a:solidFill>
              </a:defRPr>
            </a:pPr>
            <a:r>
              <a:rPr sz="1500" b="0">
                <a:solidFill>
                  <a:srgbClr val="10283B"/>
                </a:solidFill>
              </a:rPr>
              <a:t>No diagnosis or false certainty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1F867-CE78-42EA-A4C3-33C380D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5086350" cy="30289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4486D-850A-4427-AD27-251B5233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D0C8"/>
                </a:solidFill>
              </a:defRPr>
            </a:pPr>
            <a:r>
              <a:rPr sz="1575" b="1">
                <a:solidFill>
                  <a:srgbClr val="25D0C8"/>
                </a:solidFill>
              </a:rPr>
              <a:t>GOVERNANCE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375C4-B9A6-4CBA-BF77-008FAD72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575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C4F1B-5499-486F-93FC-09BA64A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7182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Structured event and decision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56AA6-B880-4DAC-A7CE-42A92D2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719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2508B-75C7-47B1-882C-2AB2FDF7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861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Source-aware guidance and clear limitations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A1F4C-7F12-43FA-A9C0-57C211BB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862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7EEFA7-1C88-45A5-BA05-6E64236D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20052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Privacy-first data minimisation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4DB0D9-368A-488A-980E-7AB47B74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800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6527A-AA6A-4B0B-97B8-35F00CAC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714875"/>
            <a:ext cx="407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Human review and configurable clinical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F99DC0-45B5-47E0-B4DC-D794FB9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50962C-7862-4FDA-B91E-BE1B0C1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24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CAD31A-8EED-4789-BC61-AAEE5742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0C8"/>
                </a:solidFill>
              </a:defRPr>
            </a:pPr>
            <a:r>
              <a:rPr sz="975" b="1">
                <a:solidFill>
                  <a:srgbClr val="25D0C8"/>
                </a:solidFill>
              </a:rPr>
              <a:t>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BFC8A-9495-4CEA-B41C-5BABC7B4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9AABD"/>
                </a:solidFill>
              </a:defRPr>
            </a:pPr>
            <a:r>
              <a:rPr sz="975" b="1">
                <a:solidFill>
                  <a:srgbClr val="89AAB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0B44D-81CA-4C87-903E-9B7A70A2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 modular architecture built for 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F82A7-3F52-4BC1-8B9B-A8DD2ECF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D0DD"/>
                </a:solidFill>
              </a:defRPr>
            </a:pPr>
            <a:r>
              <a:rPr sz="1500" b="0">
                <a:solidFill>
                  <a:srgbClr val="B7D0DD"/>
                </a:solidFill>
              </a:rPr>
              <a:t>The MVP separates conversation, triage policy, integrations and auditability so each layer can evolve safely.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35316D-D1FC-4013-8816-30CA4AE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F1BA9-8981-4458-AFEC-8AD4CEB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A1B4"/>
                </a:solidFill>
              </a:defRPr>
            </a:pPr>
            <a:r>
              <a:rPr sz="750" b="1">
                <a:solidFill>
                  <a:srgbClr val="7FA1B4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8" name="Picture 27" descr="architecture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08" y="2171700"/>
            <a:ext cx="10550984" cy="4195775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9" name="Picture 28" descr="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853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AFEAF-03BB-416A-BE4D-46C083B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HOSPITALS AND CARE PROVIDERS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5F427-8159-4874-983E-A5151046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8ADD2-492A-4FF8-8D4D-3C13C67D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A digital front door for coordinated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94DB7-C202-423E-85EE-F30DC42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Hospitals can configure pathways, receive structured summaries and reserve human capacity for the patients who need it most.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88D32-670C-4C24-8DD3-A58093C9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D0C8"/>
                </a:solidFill>
              </a:defRPr>
            </a:pPr>
            <a:r>
              <a:rPr sz="1350" b="1">
                <a:solidFill>
                  <a:srgbClr val="25D0C8"/>
                </a:solidFill>
              </a:rPr>
              <a:t>BEFORE ARRIVAL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649F7-1508-404C-BB99-5C76D5FD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60A89-535B-4BB8-9A00-825E0154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2E"/>
                </a:solidFill>
              </a:defRPr>
            </a:pPr>
            <a:r>
              <a:rPr sz="1725" b="1">
                <a:solidFill>
                  <a:srgbClr val="071B2E"/>
                </a:solidFill>
              </a:rPr>
              <a:t>Capture symptoms, red flags, timing, medication and consent.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BDFF3-B724-427E-BEC5-565189FF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</a:defRPr>
            </a:pPr>
            <a:r>
              <a:rPr sz="1350" b="1">
                <a:solidFill>
                  <a:srgbClr val="FFB547"/>
                </a:solidFill>
              </a:rPr>
              <a:t>AT 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6074B-68B8-459A-878C-A3840A06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7B828-6CF1-4D61-BF6E-61968C8B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813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2E"/>
                </a:solidFill>
              </a:defRPr>
            </a:pPr>
            <a:r>
              <a:rPr sz="1725" b="1">
                <a:solidFill>
                  <a:srgbClr val="071B2E"/>
                </a:solidFill>
              </a:rPr>
              <a:t>Send a concise summary to the appropriate team or booking pathway.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40487-84C6-4211-B3E3-C100D1E2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5D"/>
                </a:solidFill>
              </a:defRPr>
            </a:pPr>
            <a:r>
              <a:rPr sz="1350" b="1">
                <a:solidFill>
                  <a:srgbClr val="F15B5D"/>
                </a:solidFill>
              </a:rPr>
              <a:t>AFTER CARE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1046D-09CE-4747-92B3-9AA710A4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05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73762-440D-45E0-92E9-AB7DD62E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B2E"/>
                </a:solidFill>
              </a:defRPr>
            </a:pPr>
            <a:r>
              <a:rPr sz="1725" b="1">
                <a:solidFill>
                  <a:srgbClr val="071B2E"/>
                </a:solidFill>
              </a:rPr>
              <a:t>Deliver instructions, monitor warning signs and support follow-up.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83C47-3EB1-489E-A928-E47D08C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B0A8C-9EA5-440B-8FFA-38F3D4FC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C8"/>
                </a:solidFill>
              </a:defRPr>
            </a:pPr>
            <a:r>
              <a:rPr sz="1125" b="1">
                <a:solidFill>
                  <a:srgbClr val="25D0C8"/>
                </a:solidFill>
              </a:rPr>
              <a:t>VALUE TO PROVIDERS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D477A-A307-4C73-B14B-A5B52FF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Faster routing  •  Better-prepared consultations  •  Consistent escalation  •  Auditable patient journeys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D1A367-E05A-44BE-9541-2EA5500A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A63D9C-986D-4A6B-B9A3-73D90587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0" name="Picture 19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1043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78AD2-3D70-4A01-8008-92675D97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GOVERNMENT AND PUBLIC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0AFC7-39CD-4ED0-B159-638CB731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55109-6CEE-4FDC-A95D-87215BFE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A configurable public-health response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7AEA5-6206-4874-81A7-434D409C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Governments can provide consistent guidance at scale while maintaining local policy, language and emergency routing.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17752-8F61-4535-BDB6-D965C7C3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572000" cy="3429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98AB5-C956-4006-A72D-EE45AFA9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D0C8"/>
                </a:solidFill>
              </a:defRPr>
            </a:pPr>
            <a:r>
              <a:rPr sz="1500" b="1">
                <a:solidFill>
                  <a:srgbClr val="25D0C8"/>
                </a:solidFill>
              </a:rPr>
              <a:t>PUBLIC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F3A30-838F-462A-9A9B-2B1F7B28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50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24/7 multilingual guidance through web, app, voice or public service channels.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83324-827C-4202-A8A5-B566DE5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D0DD"/>
                </a:solidFill>
              </a:defRPr>
            </a:pPr>
            <a:r>
              <a:rPr sz="1425" b="0">
                <a:solidFill>
                  <a:srgbClr val="B7D0DD"/>
                </a:solidFill>
              </a:rPr>
              <a:t>A single trusted entry point for residents, visitors and vulnerable populations.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0F5EB-26D5-428C-B6B8-594817B4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574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F362B-C919-4157-9275-9DAA3A98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812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82C12-E249-43F5-9ECF-F97CDC4C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241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Local emergency numbers and pathways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A8989-0D6F-4E8D-8772-E2131BF2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004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F4970-BA7F-4513-BEAA-706BB5E6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242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B6F4F6-DCD6-4D2D-A32D-270AEC18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National clinical guidance and alerts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37A44-D47A-450D-8CA3-88FD4ADA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94335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D24BF-937A-4E72-B0AD-548860CA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671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62924-73FA-4847-B695-E92D4A13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10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Population-level demand signals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B5D016-FC41-43B4-85DD-AD5F4C1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86300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B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A7B4C-B745-49D8-AE23-528092C4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1012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B2E"/>
                </a:solidFill>
              </a:defRPr>
            </a:pPr>
            <a:r>
              <a:rPr sz="1350" b="1">
                <a:solidFill>
                  <a:srgbClr val="071B2E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C5548-4705-498B-AD3F-FE2BDDE2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529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E"/>
                </a:solidFill>
              </a:defRPr>
            </a:pPr>
            <a:r>
              <a:rPr sz="1650" b="1">
                <a:solidFill>
                  <a:srgbClr val="071B2E"/>
                </a:solidFill>
              </a:rPr>
              <a:t>Privacy, audit and policy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69636-2143-45B1-BB75-5E7F3CB9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6C557-E2E1-4D21-81F2-A36599F4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795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BFACD-A8C4-4071-9E3B-25083E8F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9AC72-B953-4F27-9926-C87B0AAD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1B384-8C99-4E02-94BC-9849673D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Enterprise SaaS with usage-based expansion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514B4-A966-4CB3-B5D8-BCD7ED4F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Start with one care pathway, prove operational value, then expand across sites, languages and service 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EA611-72CC-4775-83AE-CA3C0237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38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46C5B-4BDD-41B9-867A-546875B3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B8B"/>
                </a:solidFill>
              </a:defRPr>
            </a:pPr>
            <a:r>
              <a:rPr sz="1125" b="1">
                <a:solidFill>
                  <a:srgbClr val="667B8B"/>
                </a:solidFill>
              </a:rPr>
              <a:t>PLATFORM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48442-F6FD-44F0-9485-2B5B0A51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B2E"/>
                </a:solidFill>
              </a:defRPr>
            </a:pPr>
            <a:r>
              <a:rPr sz="1950" b="1">
                <a:solidFill>
                  <a:srgbClr val="071B2E"/>
                </a:solidFill>
              </a:rPr>
              <a:t>Annual licence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CC190-543A-48F0-B5A8-E49A0DEE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4807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B"/>
                </a:solidFill>
              </a:defRPr>
            </a:pPr>
            <a:r>
              <a:rPr sz="1350" b="0">
                <a:solidFill>
                  <a:srgbClr val="667B8B"/>
                </a:solidFill>
              </a:rPr>
              <a:t>Configuration, governance, dashboards and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A1D56-F4FE-4DF6-A918-B535359C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238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9525">
            <a:solidFill>
              <a:srgbClr val="071B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DD0DE-472A-4649-B368-45BD895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C8"/>
                </a:solidFill>
              </a:defRPr>
            </a:pPr>
            <a:r>
              <a:rPr sz="1125" b="1">
                <a:solidFill>
                  <a:srgbClr val="25D0C8"/>
                </a:solidFill>
              </a:rPr>
              <a:t>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715E4D-BDB0-492B-991F-947BEED2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575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Per interaction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5825-DFE4-4A27-918E-4D081962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4807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D0DD"/>
                </a:solidFill>
              </a:defRPr>
            </a:pPr>
            <a:r>
              <a:rPr sz="1350" b="0">
                <a:solidFill>
                  <a:srgbClr val="B7D0DD"/>
                </a:solidFill>
              </a:rPr>
              <a:t>Volume-based pricing for triage sessions, voice and integrations.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67874-5B48-4E33-BCCD-142FC1A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238500" cy="23812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5FAFA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28D2BC-BE0C-4CB3-9CE6-C44344E2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B8B"/>
                </a:solidFill>
              </a:defRPr>
            </a:pPr>
            <a:r>
              <a:rPr sz="1125" b="1">
                <a:solidFill>
                  <a:srgbClr val="667B8B"/>
                </a:solidFill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1BC57-62DC-4489-BD89-DEB6D4BA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575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B2E"/>
                </a:solidFill>
              </a:defRPr>
            </a:pPr>
            <a:r>
              <a:rPr sz="1950" b="1">
                <a:solidFill>
                  <a:srgbClr val="071B2E"/>
                </a:solidFill>
              </a:rPr>
              <a:t>Implementation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0937F-636A-47AA-A053-DB21F43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48075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B"/>
                </a:solidFill>
              </a:defRPr>
            </a:pPr>
            <a:r>
              <a:rPr sz="1350" b="0">
                <a:solidFill>
                  <a:srgbClr val="667B8B"/>
                </a:solidFill>
              </a:rPr>
              <a:t>Clinical pathway design, integration, localisation and training.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114C9-C5E3-477D-8235-232F9C03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B8B"/>
                </a:solidFill>
              </a:defRPr>
            </a:pPr>
            <a:r>
              <a:rPr sz="1050" b="1">
                <a:solidFill>
                  <a:srgbClr val="667B8B"/>
                </a:solidFill>
              </a:rPr>
              <a:t>Illustrative commercial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D0813-0E02-45B2-917C-637BEC1D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B2E"/>
                </a:solidFill>
              </a:defRPr>
            </a:pPr>
            <a:r>
              <a:rPr sz="2100" b="1">
                <a:solidFill>
                  <a:srgbClr val="071B2E"/>
                </a:solidFill>
              </a:rPr>
              <a:t>Pilot fee  →  Annual contract  →  Multi-site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81416-AECE-40A3-BDE2-8F80575B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4C6FE-C2FF-41AB-BBFA-084E4B4B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2" name="Picture 21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15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F6AB95-7076-413C-B7D3-551D3F6E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D0C8"/>
                </a:solidFill>
              </a:defRPr>
            </a:pPr>
            <a:r>
              <a:rPr sz="975" b="1">
                <a:solidFill>
                  <a:srgbClr val="25D0C8"/>
                </a:solidFill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C1970-ED4C-461E-9524-B47BCA88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9AABD"/>
                </a:solidFill>
              </a:defRPr>
            </a:pPr>
            <a:r>
              <a:rPr sz="975" b="1">
                <a:solidFill>
                  <a:srgbClr val="89AABD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6497B-51BA-4E9D-AF35-499840E8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Land with a focused pilot. Expand through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DFF7D-2508-4A8A-AC5C-98BE1197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D0DD"/>
                </a:solidFill>
              </a:defRPr>
            </a:pPr>
            <a:r>
              <a:rPr sz="1500" b="0">
                <a:solidFill>
                  <a:srgbClr val="B7D0DD"/>
                </a:solidFill>
              </a:rPr>
              <a:t>The fastest route is a bounded deployment with a measurable pathway and a committed clinical owner.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B861E-344E-4330-A192-2FAC83BD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323850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9525">
            <a:solidFill>
              <a:srgbClr val="25455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2246D-C4C9-4608-B415-6486B4E8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D0C8"/>
                </a:solidFill>
              </a:defRPr>
            </a:pPr>
            <a:r>
              <a:rPr sz="1350" b="1">
                <a:solidFill>
                  <a:srgbClr val="25D0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3114C-1D62-43F6-BEF3-D60E9827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38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DESIGN PARTNER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2920F-72B5-4622-B591-DBD09F95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D0DD"/>
                </a:solidFill>
              </a:defRPr>
            </a:pPr>
            <a:r>
              <a:rPr sz="1425" b="0">
                <a:solidFill>
                  <a:srgbClr val="B7D0DD"/>
                </a:solidFill>
              </a:rPr>
              <a:t>One hospital, insurer or public-health 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9946F-426E-4D7B-8F22-D8344AA5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E0D0B-7EA7-44F5-B463-71426334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D0C8"/>
                </a:solidFill>
              </a:defRPr>
            </a:pPr>
            <a:r>
              <a:rPr sz="1200" b="1">
                <a:solidFill>
                  <a:srgbClr val="25D0C8"/>
                </a:solidFill>
              </a:rPr>
              <a:t>4–8 weeks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7836B0-BCC4-46CF-A04A-1135C3B3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323850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9525">
            <a:solidFill>
              <a:srgbClr val="2545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663719-377A-4584-A910-50330DD7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0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547"/>
                </a:solidFill>
              </a:defRPr>
            </a:pPr>
            <a:r>
              <a:rPr sz="1350" b="1">
                <a:solidFill>
                  <a:srgbClr val="FFB547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B2A10-4DBC-4D5C-BAB1-B185D1B2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38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VALIDATED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A1605-3710-4FB0-8A10-71ED6582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528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D0DD"/>
                </a:solidFill>
              </a:defRPr>
            </a:pPr>
            <a:r>
              <a:rPr sz="1425" b="0">
                <a:solidFill>
                  <a:srgbClr val="B7D0DD"/>
                </a:solidFill>
              </a:rPr>
              <a:t>One pathway, agreed safety policy and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34E30-4A91-4380-AA45-FF56C6C8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CDF3A-E0D7-48D5-AF8B-BF37C868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29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547"/>
                </a:solidFill>
              </a:defRPr>
            </a:pPr>
            <a:r>
              <a:rPr sz="1200" b="1">
                <a:solidFill>
                  <a:srgbClr val="FFB547"/>
                </a:solidFill>
              </a:rPr>
              <a:t>8–12 weeks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AF37F0-13A6-429B-94F7-D1989DC3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43150"/>
            <a:ext cx="3238500" cy="2647950"/>
          </a:xfrm>
          <a:prstGeom xmlns:a="http://schemas.openxmlformats.org/drawingml/2006/main" prst="roundRect">
            <a:avLst>
              <a:gd name="adj" fmla="val 7914"/>
            </a:avLst>
          </a:prstGeom>
          <a:solidFill xmlns:a="http://schemas.openxmlformats.org/drawingml/2006/main">
            <a:srgbClr val="0D2941"/>
          </a:solidFill>
          <a:ln xmlns:a="http://schemas.openxmlformats.org/drawingml/2006/main" w="9525">
            <a:solidFill>
              <a:srgbClr val="25455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0251C-741F-49A1-8DD7-63B373C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003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15B5D"/>
                </a:solidFill>
              </a:defRPr>
            </a:pPr>
            <a:r>
              <a:rPr sz="1350" b="1">
                <a:solidFill>
                  <a:srgbClr val="F15B5D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6D105-455C-4FEC-B0F7-DC7A8694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384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F37E9-295E-421B-A281-ADEEDFCF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528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7D0DD"/>
                </a:solidFill>
              </a:defRPr>
            </a:pPr>
            <a:r>
              <a:rPr sz="1425" b="0">
                <a:solidFill>
                  <a:srgbClr val="B7D0DD"/>
                </a:solidFill>
              </a:rPr>
              <a:t>More sites, languages and care pathways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F320C9-751B-4F8E-A5FC-57DD4959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705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CEB75-53B8-4812-A772-240CC7DF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5B5D"/>
                </a:solidFill>
              </a:defRPr>
            </a:pPr>
            <a:r>
              <a:rPr sz="1200" b="1">
                <a:solidFill>
                  <a:srgbClr val="F15B5D"/>
                </a:solidFill>
              </a:rPr>
              <a:t>Annual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5CD585-EB34-4610-BC4D-8822CAB6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Target buyers: hospitals • emergency networks • insurers • ministries of health • large employers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1CAB6-25A7-4468-8EA7-14EF92D0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61C8F8-3DBE-4730-B558-FC75E051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A1B4"/>
                </a:solidFill>
              </a:defRPr>
            </a:pPr>
            <a:r>
              <a:rPr sz="750" b="1">
                <a:solidFill>
                  <a:srgbClr val="7FA1B4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7" name="Picture 26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113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565CB4-1741-47BE-B7A9-5D94017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B0C69-84A0-4577-83F6-C0B1167F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B8B"/>
                </a:solidFill>
              </a:defRPr>
            </a:pPr>
            <a:r>
              <a:rPr sz="975" b="1">
                <a:solidFill>
                  <a:srgbClr val="667B8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F2C2F-E43B-45FE-AF39-C280584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1B2E"/>
                </a:solidFill>
              </a:defRPr>
            </a:pPr>
            <a:r>
              <a:rPr sz="3000" b="1">
                <a:solidFill>
                  <a:srgbClr val="071B2E"/>
                </a:solidFill>
              </a:rPr>
              <a:t>From guidance to coordinated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5EC79-AE4E-4223-82F1-A6F69AA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The MVP proves safe triage. The next phases connect the right people and automate approved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33EB5-0DEF-4009-8835-0760BDBD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4415D-31E1-4FE5-9DB9-831EDDF1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238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F622B-1DCE-4FD3-A3D2-05F4876E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C8"/>
                </a:solidFill>
              </a:defRPr>
            </a:pPr>
            <a:r>
              <a:rPr sz="1125" b="1">
                <a:solidFill>
                  <a:srgbClr val="25D0C8"/>
                </a:solidFill>
              </a:rPr>
              <a:t>PHASE 1 •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97FF6-81AB-4142-9C8F-60F9971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2E"/>
                </a:solidFill>
              </a:defRPr>
            </a:pPr>
            <a:r>
              <a:rPr sz="2250" b="1">
                <a:solidFill>
                  <a:srgbClr val="071B2E"/>
                </a:solidFill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4B12D-BEBB-44D1-9978-3B202ED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433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Action-oriented triage, emergency screening, self-care and structured summaries.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4FE03-39A2-436B-A28C-0124292D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323850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D0551-176E-420F-BF38-BBE23C9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3238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FE3662-60AA-44CC-8264-B93CC7D8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547"/>
                </a:solidFill>
              </a:defRPr>
            </a:pPr>
            <a:r>
              <a:rPr sz="1125" b="1">
                <a:solidFill>
                  <a:srgbClr val="FFB547"/>
                </a:solidFill>
              </a:rPr>
              <a:t>PHASE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9D439-48BE-4F6B-B879-B0D85BA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2E"/>
                </a:solidFill>
              </a:defRPr>
            </a:pPr>
            <a:r>
              <a:rPr sz="2250" b="1">
                <a:solidFill>
                  <a:srgbClr val="071B2E"/>
                </a:solidFill>
              </a:rPr>
              <a:t>CONNECT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659B2-89F9-4910-A596-C0F2AD1F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433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Appointments, provider handoff, consented notifications and follow-up workflows.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41C43-0548-4ACC-B17B-B126A4FC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238500" cy="2876550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B3A43-3A44-4D8A-B893-F3BEB4AD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62200"/>
            <a:ext cx="323850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5B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93CA3-8881-416D-9F9B-22EFC6E5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5B5D"/>
                </a:solidFill>
              </a:defRPr>
            </a:pPr>
            <a:r>
              <a:rPr sz="1125" b="1">
                <a:solidFill>
                  <a:srgbClr val="F15B5D"/>
                </a:solidFill>
              </a:rPr>
              <a:t>PHASE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11473A-42F1-4FE4-A064-3B280E28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B2E"/>
                </a:solidFill>
              </a:defRPr>
            </a:pPr>
            <a:r>
              <a:rPr sz="2250" b="1">
                <a:solidFill>
                  <a:srgbClr val="071B2E"/>
                </a:solidFill>
              </a:rPr>
              <a:t>COORDINATE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3C3A7-7DD0-4459-A1BC-F1FDC57B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43325"/>
            <a:ext cx="2647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B"/>
                </a:solidFill>
              </a:defRPr>
            </a:pPr>
            <a:r>
              <a:rPr sz="1500" b="0">
                <a:solidFill>
                  <a:srgbClr val="667B8B"/>
                </a:solidFill>
              </a:rPr>
              <a:t>Integrated emergency response, clinician console, population insights and partner ecosystem.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68C28-E78B-4A65-86B2-B55A65D6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071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FB8B1-223C-4A8C-B266-B9FF1A9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Each phase remains human-controlled, consent-based and policy-configurable.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78BA4F-4989-4B6C-B7EB-2212B2B2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ED58C-4F42-49DB-A068-ED9B8B5F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B8B"/>
                </a:solidFill>
              </a:defRPr>
            </a:pPr>
            <a:r>
              <a:rPr sz="750" b="1">
                <a:solidFill>
                  <a:srgbClr val="667B8B"/>
                </a:solidFill>
              </a:rPr>
              <a:t>HEALTH RESPONSE AGENT</a:t>
            </a:r>
          </a:p>
        </p:txBody>
      </p:sp>
      <p:pic xmlns:a="http://schemas.openxmlformats.org/drawingml/2006/main" xmlns:r="http://schemas.openxmlformats.org/officeDocument/2006/relationships">
        <p:nvPicPr>
          <p:cNvPr id="25" name="Picture 24" descr="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6553200"/>
            <a:ext cx="1524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228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4F602-BB05-47F2-85D3-794FEBE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D0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844db5f0c4cdb">
            <a:extLst>
              <a:ext uri="{96DAC541-7B7A-43D3-8B79-37D633B846F1}">
                <asvg:svgBlip xmlns:asvg="http://schemas.microsoft.com/office/drawing/2016/SVG/main" r:embed="R0657218bd9154d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20250" y="66675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826BF-B319-4247-838E-F4FCA543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8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C8"/>
                </a:solidFill>
              </a:defRPr>
            </a:pPr>
            <a:r>
              <a:rPr sz="1125" b="1">
                <a:solidFill>
                  <a:srgbClr val="25D0C8"/>
                </a:solidFill>
              </a:rPr>
              <a:t>THE 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CA3BE-FD8D-42ED-832E-2E0A14AE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81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Prove safer decisions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in one real care pathway.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35853-3D19-47B5-A317-7FFED37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D0DD"/>
                </a:solidFill>
              </a:defRPr>
            </a:pPr>
            <a:r>
              <a:rPr sz="1725" b="0">
                <a:solidFill>
                  <a:srgbClr val="B7D0DD"/>
                </a:solidFill>
              </a:rPr>
              <a:t>We are looking for a design partner to validate the workflow, clinical governance and integration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0D995-B8EC-4BD7-B589-7AF4B20A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D0C8"/>
                </a:solidFill>
              </a:defRPr>
            </a:pPr>
            <a:r>
              <a:rPr sz="1125" b="1">
                <a:solidFill>
                  <a:srgbClr val="25D0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FC5B8-1C43-4AB8-BC70-5BABCC4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CLINICAL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05E3D-4B46-48BA-9394-B28D43FB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52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547"/>
                </a:solidFill>
              </a:defRPr>
            </a:pPr>
            <a:r>
              <a:rPr sz="1125" b="1">
                <a:solidFill>
                  <a:srgbClr val="FFB547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C03E7-D6E7-4CAB-BCBF-A0369306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95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PILOT PATHWAY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6D8BC-4431-4EBB-A6A3-F61791DD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52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5B5D"/>
                </a:solidFill>
              </a:defRPr>
            </a:pPr>
            <a:r>
              <a:rPr sz="1125" b="1">
                <a:solidFill>
                  <a:srgbClr val="F15B5D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9F60F-E0F0-4A1E-96A8-3C224B5E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895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TECHNICAL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CC1CB-C694-40DC-AB38-48AAC9E5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5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FD03F-FEAE-43E5-AD04-72B80862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Health Response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F7829-7E5E-4E52-BBBF-8BC4E87C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0007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5D0C8"/>
                </a:solidFill>
              </a:defRPr>
            </a:pPr>
            <a:r>
              <a:rPr sz="1200" b="0">
                <a:solidFill>
                  <a:srgbClr val="25D0C8"/>
                </a:solidFill>
              </a:rPr>
              <a:t>Clear action when every minute matters.</a:t>
            </a:r>
          </a:p>
        </p:txBody>
      </p:sp>
    </p:spTree>
    <p:extLst>
      <p:ext uri="{BB962C8B-B14F-4D97-AF65-F5344CB8AC3E}">
        <p14:creationId xmlns:p14="http://schemas.microsoft.com/office/powerpoint/2010/main" val="1439748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2026-09-01T13:35:37.4060000Z</dcterms:created>
  <dcterms:modified xsi:type="dcterms:W3CDTF">2026-09-01T13:35:37.4060000Z</dcterms:modified>
</coreProperties>
</file>